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view3D>
      <c:rotX val="30"/>
      <c:rotY val="20"/>
      <c:rAngAx val="0"/>
    </c:view3D>
    <c:plotArea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Fill time</c:v>
                </c:pt>
                <c:pt idx="1">
                  <c:v>Pack time</c:v>
                </c:pt>
                <c:pt idx="2">
                  <c:v>Cooling time</c:v>
                </c:pt>
                <c:pt idx="3">
                  <c:v>Mold open time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1.67</c:v>
                </c:pt>
                <c:pt idx="1">
                  <c:v>8.0</c:v>
                </c:pt>
                <c:pt idx="2">
                  <c:v>13.6</c:v>
                </c:pt>
                <c:pt idx="3">
                  <c:v>5.0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74320" y="685800"/>
            <a:ext cx="347472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300" b="0" i="0" u="sng">
                <a:solidFill>
                  <a:srgbClr val="FF0000"/>
                </a:solidFill>
                <a:latin typeface="Arial"/>
              </a:rPr>
              <a:t>Product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1188720"/>
            <a:ext cx="3840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Part Name :- REAR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627632"/>
            <a:ext cx="3840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Index No :- ANRMTPT0002F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2066543"/>
            <a:ext cx="3840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Model :- TE-12XCME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505456"/>
            <a:ext cx="3840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Plastic material :- ABS  (assumed)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2944368"/>
            <a:ext cx="3840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Shrinkage :- 1.005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383280"/>
            <a:ext cx="38404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Part Weight :- 31.88g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548640"/>
            <a:ext cx="0" cy="52120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120" y="685800"/>
            <a:ext cx="438912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/>
            <a:r>
              <a:rPr sz="1300" b="0" i="0" u="sng">
                <a:solidFill>
                  <a:srgbClr val="FF0000"/>
                </a:solidFill>
                <a:latin typeface="Arial"/>
              </a:rPr>
              <a:t>Tooling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188720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Tooling type :-  2PLATE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27632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Hot Runner system :- 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66543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Gate type :- SUB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05456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No. of cavities :- 1 X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44368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No. of slider :- 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383280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No. of lifters :- 10X / CAV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822191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Main insert material :- NAK-80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261104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Mold base material :- S50C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700016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Mold base Standard :- LKM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138928"/>
            <a:ext cx="45720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Injection machine capacity :-  100T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80644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Material not given on the TE-12XCME drawing: ABS assumed (same as the battery cover). Weight = DFM model volume x 1.05 g/cm3.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Product size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dfm_core_pla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88301"/>
            <a:ext cx="6766560" cy="2395397"/>
          </a:xfrm>
          <a:prstGeom prst="rect">
            <a:avLst/>
          </a:prstGeom>
        </p:spPr>
      </p:pic>
      <p:pic>
        <p:nvPicPr>
          <p:cNvPr id="5" name="Picture 4" descr="dfm_sid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" y="4251960"/>
            <a:ext cx="6502400" cy="13716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320040" y="3593426"/>
            <a:ext cx="6766560" cy="0"/>
          </a:xfrm>
          <a:prstGeom prst="line">
            <a:avLst/>
          </a:prstGeom>
          <a:ln w="19050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337560" y="3483698"/>
            <a:ext cx="7315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152.99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223760" y="1088301"/>
            <a:ext cx="0" cy="2395397"/>
          </a:xfrm>
          <a:prstGeom prst="line">
            <a:avLst/>
          </a:prstGeom>
          <a:ln w="19050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0" y="2167128"/>
            <a:ext cx="68580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51.00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91680" y="4251960"/>
            <a:ext cx="0" cy="1371600"/>
          </a:xfrm>
          <a:prstGeom prst="line">
            <a:avLst/>
          </a:prstGeom>
          <a:ln w="19050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83120" y="4818888"/>
            <a:ext cx="68580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25.87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93192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 i="0" u="none">
                <a:solidFill>
                  <a:srgbClr val="808080"/>
                </a:solidFill>
                <a:latin typeface="Arial"/>
              </a:rPr>
              <a:t>Core side (plan)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669280"/>
            <a:ext cx="274320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 i="0" u="none">
                <a:solidFill>
                  <a:srgbClr val="808080"/>
                </a:solidFill>
                <a:latin typeface="Arial"/>
              </a:rPr>
              <a:t>Side view (pull direction up)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1.Parting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58368" y="457200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CAV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15568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09828" y="704088"/>
            <a:ext cx="0" cy="41148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76656" y="909828"/>
            <a:ext cx="46634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91439" y="795528"/>
            <a:ext cx="41148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PL</a:t>
            </a:r>
          </a:p>
        </p:txBody>
      </p:sp>
      <p:pic>
        <p:nvPicPr>
          <p:cNvPr id="9" name="Picture 8" descr="pl_sid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440" y="566928"/>
            <a:ext cx="5232400" cy="1097280"/>
          </a:xfrm>
          <a:prstGeom prst="rect">
            <a:avLst/>
          </a:prstGeom>
        </p:spPr>
      </p:pic>
      <p:pic>
        <p:nvPicPr>
          <p:cNvPr id="10" name="Picture 9" descr="pl_cav_is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857" y="1874519"/>
            <a:ext cx="1359165" cy="4069080"/>
          </a:xfrm>
          <a:prstGeom prst="rect">
            <a:avLst/>
          </a:prstGeom>
        </p:spPr>
      </p:pic>
      <p:pic>
        <p:nvPicPr>
          <p:cNvPr id="11" name="Picture 10" descr="pl_core_iso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8380" y="1874519"/>
            <a:ext cx="1356360" cy="40690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240280" y="6053328"/>
            <a:ext cx="6720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Main PL flat at Y 4.34 (bottom of the side walls). PL steps down around the tongue at the top end and runs up the slanted open bottom 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2.Parting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75320" y="91440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CAV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749808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26780" y="338328"/>
            <a:ext cx="0" cy="41148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93608" y="544068"/>
            <a:ext cx="46634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l_core_iso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502920"/>
            <a:ext cx="179832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83234" y="542844"/>
            <a:ext cx="640080" cy="5486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_top_en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49185"/>
            <a:ext cx="4343400" cy="31024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17720" y="1649185"/>
            <a:ext cx="4343400" cy="3102428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823314" y="817164"/>
            <a:ext cx="1794406" cy="2383236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240280" y="6053328"/>
            <a:ext cx="6720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Tongue below PL (Y 0.41-4.34) at the top end: PL steps down; tongue formed in the core insert.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3.Parting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75320" y="91440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CAV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749808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26780" y="338328"/>
            <a:ext cx="0" cy="41148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93608" y="544068"/>
            <a:ext cx="46634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l_core_iso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59" y="502920"/>
            <a:ext cx="1798320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986651" y="5287019"/>
            <a:ext cx="640080" cy="5486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_bottom_en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739615"/>
            <a:ext cx="4343400" cy="292156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17720" y="1739615"/>
            <a:ext cx="4343400" cy="2921569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2626731" y="3200400"/>
            <a:ext cx="1990989" cy="236093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240280" y="6053328"/>
            <a:ext cx="6720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Open slanted bottom end (14.8 deg): end face on core side, PL follows the outer edge of the end 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4.Parting 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75320" y="91440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CAV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749808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26780" y="338328"/>
            <a:ext cx="0" cy="41148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93608" y="544068"/>
            <a:ext cx="46634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pl_cav_iso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00" y="502920"/>
            <a:ext cx="1802039" cy="539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54485" y="2401196"/>
            <a:ext cx="640080" cy="548640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_openin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523411"/>
            <a:ext cx="4343400" cy="335397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17720" y="1523411"/>
            <a:ext cx="4343400" cy="3353976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894565" y="2675516"/>
            <a:ext cx="1723155" cy="52488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240280" y="6053328"/>
            <a:ext cx="6720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Battery opening + cover slot: cavity / core shut-off along the inner skin edge; rails and ledges on core 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5.Lifter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lifter_pla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7519"/>
            <a:ext cx="8595360" cy="30428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6438" y="969836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01L</a:t>
            </a:r>
          </a:p>
        </p:txBody>
      </p:sp>
      <p:sp>
        <p:nvSpPr>
          <p:cNvPr id="6" name="Down Arrow 5"/>
          <p:cNvSpPr/>
          <p:nvPr/>
        </p:nvSpPr>
        <p:spPr>
          <a:xfrm>
            <a:off x="757334" y="1609916"/>
            <a:ext cx="146304" cy="2560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95842" y="969836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02L</a:t>
            </a:r>
          </a:p>
        </p:txBody>
      </p:sp>
      <p:sp>
        <p:nvSpPr>
          <p:cNvPr id="8" name="Down Arrow 7"/>
          <p:cNvSpPr/>
          <p:nvPr/>
        </p:nvSpPr>
        <p:spPr>
          <a:xfrm>
            <a:off x="2606738" y="1609916"/>
            <a:ext cx="146304" cy="2560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45246" y="969836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03L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56142" y="1609916"/>
            <a:ext cx="146304" cy="2560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1349" y="969836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04L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512245" y="1609916"/>
            <a:ext cx="146304" cy="2560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60544" y="969836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05L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371440" y="1609916"/>
            <a:ext cx="146304" cy="256032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6438" y="4358939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01R</a:t>
            </a:r>
          </a:p>
        </p:txBody>
      </p:sp>
      <p:sp>
        <p:nvSpPr>
          <p:cNvPr id="16" name="Up Arrow 15"/>
          <p:cNvSpPr/>
          <p:nvPr/>
        </p:nvSpPr>
        <p:spPr>
          <a:xfrm>
            <a:off x="757334" y="3709715"/>
            <a:ext cx="146304" cy="25603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95842" y="4358939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02R</a:t>
            </a:r>
          </a:p>
        </p:txBody>
      </p:sp>
      <p:sp>
        <p:nvSpPr>
          <p:cNvPr id="18" name="Up Arrow 17"/>
          <p:cNvSpPr/>
          <p:nvPr/>
        </p:nvSpPr>
        <p:spPr>
          <a:xfrm>
            <a:off x="2606738" y="3709715"/>
            <a:ext cx="146304" cy="25603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45246" y="4358939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03R</a:t>
            </a:r>
          </a:p>
        </p:txBody>
      </p:sp>
      <p:sp>
        <p:nvSpPr>
          <p:cNvPr id="20" name="Up Arrow 19"/>
          <p:cNvSpPr/>
          <p:nvPr/>
        </p:nvSpPr>
        <p:spPr>
          <a:xfrm>
            <a:off x="4456142" y="3709715"/>
            <a:ext cx="146304" cy="25603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1349" y="4358939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04R</a:t>
            </a:r>
          </a:p>
        </p:txBody>
      </p:sp>
      <p:sp>
        <p:nvSpPr>
          <p:cNvPr id="22" name="Up Arrow 21"/>
          <p:cNvSpPr/>
          <p:nvPr/>
        </p:nvSpPr>
        <p:spPr>
          <a:xfrm>
            <a:off x="6512245" y="3709715"/>
            <a:ext cx="146304" cy="25603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0544" y="4358939"/>
            <a:ext cx="768096" cy="219456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Lifter 05R</a:t>
            </a:r>
          </a:p>
        </p:txBody>
      </p:sp>
      <p:sp>
        <p:nvSpPr>
          <p:cNvPr id="24" name="Up Arrow 23"/>
          <p:cNvSpPr/>
          <p:nvPr/>
        </p:nvSpPr>
        <p:spPr>
          <a:xfrm>
            <a:off x="8371440" y="3709715"/>
            <a:ext cx="146304" cy="25603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0280" y="5074920"/>
            <a:ext cx="6720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10 lifters / cavity: one per PL catch tooth (1.0 x 1.5 x 4.0 mm, catch face Y 5.84).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Lifter travel 1.5 mm inward, angle 8 deg -&gt; ejector stroke 10.7 mm min.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6.Lifter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lifter_zoom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77685"/>
            <a:ext cx="4023360" cy="28738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63040" y="566928"/>
            <a:ext cx="91440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Lifter 04L</a:t>
            </a:r>
          </a:p>
        </p:txBody>
      </p:sp>
      <p:pic>
        <p:nvPicPr>
          <p:cNvPr id="6" name="Picture 5" descr="sec_to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907529"/>
            <a:ext cx="4572000" cy="2208300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4343400" y="548640"/>
            <a:ext cx="0" cy="402336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480560" y="3520440"/>
            <a:ext cx="448056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Undercut faces in lifter zones: 419.7 mm2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Released within 1.5 mm travel: 419.7 mm2 (not released: 0.00 mm2)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Window through side wall rejected: cosmetic side wall + weak snap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493776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Ray check on the DFM model: every lifter-zone undercut face is tested along the lifter travel direction (+X left side, -X right side).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7.Ejector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eject_pla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760751"/>
            <a:ext cx="6583680" cy="233065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6949440" y="914400"/>
            <a:ext cx="160020" cy="160020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06640" y="896112"/>
            <a:ext cx="146304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EP 1.5 ( 12X )</a:t>
            </a:r>
          </a:p>
        </p:txBody>
      </p:sp>
      <p:sp>
        <p:nvSpPr>
          <p:cNvPr id="7" name="Oval 6"/>
          <p:cNvSpPr/>
          <p:nvPr/>
        </p:nvSpPr>
        <p:spPr>
          <a:xfrm>
            <a:off x="6949440" y="1371600"/>
            <a:ext cx="205740" cy="205740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1353312"/>
            <a:ext cx="146304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EP 2.5 ( 1X )</a:t>
            </a:r>
          </a:p>
        </p:txBody>
      </p:sp>
      <p:sp>
        <p:nvSpPr>
          <p:cNvPr id="9" name="Oval 8"/>
          <p:cNvSpPr/>
          <p:nvPr/>
        </p:nvSpPr>
        <p:spPr>
          <a:xfrm>
            <a:off x="6949440" y="1828800"/>
            <a:ext cx="274320" cy="274320"/>
          </a:xfrm>
          <a:prstGeom prst="ellipse">
            <a:avLst/>
          </a:prstGeom>
          <a:solidFill>
            <a:srgbClr val="DD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810512"/>
            <a:ext cx="146304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EP 4.0 ( 6X 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2331720"/>
            <a:ext cx="384048" cy="128016"/>
          </a:xfrm>
          <a:prstGeom prst="rect">
            <a:avLst/>
          </a:prstGeom>
          <a:solidFill>
            <a:srgbClr val="1A4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2267712"/>
            <a:ext cx="1645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EB 8.0 X 0.8 ( 2X 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2743200"/>
            <a:ext cx="384048" cy="128016"/>
          </a:xfrm>
          <a:prstGeom prst="rect">
            <a:avLst/>
          </a:prstGeom>
          <a:solidFill>
            <a:srgbClr val="1A4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679192"/>
            <a:ext cx="1645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EB 5.0 X 0.9 ( 4X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154680"/>
            <a:ext cx="384048" cy="128016"/>
          </a:xfrm>
          <a:prstGeom prst="rect">
            <a:avLst/>
          </a:prstGeom>
          <a:solidFill>
            <a:srgbClr val="1A4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3090672"/>
            <a:ext cx="1645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EB 8.0 X 0.9 ( 1X 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3566160"/>
            <a:ext cx="384048" cy="128016"/>
          </a:xfrm>
          <a:prstGeom prst="rect">
            <a:avLst/>
          </a:prstGeom>
          <a:solidFill>
            <a:srgbClr val="1A4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502152"/>
            <a:ext cx="1645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EB 8.0 X 1.0 ( 3X 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3977640"/>
            <a:ext cx="384048" cy="128016"/>
          </a:xfrm>
          <a:prstGeom prst="rect">
            <a:avLst/>
          </a:prstGeom>
          <a:solidFill>
            <a:srgbClr val="1A4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3913632"/>
            <a:ext cx="1645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EB 8.0 X 1.1 ( 1X 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4389120"/>
            <a:ext cx="384048" cy="128016"/>
          </a:xfrm>
          <a:prstGeom prst="rect">
            <a:avLst/>
          </a:prstGeom>
          <a:solidFill>
            <a:srgbClr val="1A4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4325112"/>
            <a:ext cx="1645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EB 8.0 X 1.5 ( 1X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40280" y="5257800"/>
            <a:ext cx="672084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Pins on flat core-side faces (disc check), none in lifter zones. Core depth 21.9 mm, ejector stroke 26.9 mm.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8.Gate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gate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1792"/>
            <a:ext cx="3931920" cy="3368654"/>
          </a:xfrm>
          <a:prstGeom prst="rect">
            <a:avLst/>
          </a:prstGeom>
        </p:spPr>
      </p:pic>
      <p:pic>
        <p:nvPicPr>
          <p:cNvPr id="5" name="Picture 4" descr="gate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869" y="1325880"/>
            <a:ext cx="4370221" cy="35661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12869" y="1325880"/>
            <a:ext cx="4370221" cy="3566159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502920"/>
            <a:ext cx="237744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Cold Runner + Sub 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914400"/>
            <a:ext cx="64008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Ø1.2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4937760"/>
            <a:ext cx="4480560" cy="9144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Arial"/>
              </a:rPr>
              <a:t>G1: Side gate at PL, top end - max flow 191 mm (L/t 96)</a:t>
            </a:r>
          </a:p>
          <a:p>
            <a:pPr algn="l"/>
            <a:r>
              <a:rPr sz="800" b="0" i="0" u="none">
                <a:solidFill>
                  <a:srgbClr val="000000"/>
                </a:solidFill>
                <a:latin typeface="Arial"/>
              </a:rPr>
              <a:t>G2: Side gate at PL, side wall mid-length - max flow 130 mm (L/t 65)</a:t>
            </a:r>
          </a:p>
          <a:p>
            <a:pPr algn="l"/>
            <a:r>
              <a:rPr sz="800" b="0" i="0" u="none">
                <a:solidFill>
                  <a:srgbClr val="000000"/>
                </a:solidFill>
                <a:latin typeface="Arial"/>
              </a:rPr>
              <a:t>G3: Sub gate on inner side wall, mid-length - max flow 130 mm (L/t 65)</a:t>
            </a:r>
          </a:p>
          <a:p>
            <a:pPr algn="l"/>
            <a:r>
              <a:rPr sz="800" b="0" i="0" u="none">
                <a:solidFill>
                  <a:srgbClr val="000000"/>
                </a:solidFill>
                <a:latin typeface="Arial"/>
              </a:rPr>
              <a:t>G4: Sub gate on inner side wall, bottom end - max flow 172 mm (L/t 86)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6053328"/>
            <a:ext cx="6720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Gate G3 chosen: no mark on the cosmetic skin, shortest practical flow 130 mm, away from lifters.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9.Draft angle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draft_input_cav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795" y="548640"/>
            <a:ext cx="1591529" cy="4754880"/>
          </a:xfrm>
          <a:prstGeom prst="rect">
            <a:avLst/>
          </a:prstGeom>
        </p:spPr>
      </p:pic>
      <p:pic>
        <p:nvPicPr>
          <p:cNvPr id="5" name="Picture 4" descr="draft_input_cor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800" y="548640"/>
            <a:ext cx="1588238" cy="4754880"/>
          </a:xfrm>
          <a:prstGeom prst="rect">
            <a:avLst/>
          </a:prstGeom>
        </p:spPr>
      </p:pic>
      <p:pic>
        <p:nvPicPr>
          <p:cNvPr id="6" name="Picture 5" descr="legend_dra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378886"/>
            <a:ext cx="731520" cy="14484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40280" y="5440680"/>
            <a:ext cx="67208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All Green Surface Are 0º Propose To Add 1.0º For Cavity Side &amp; Draft 0.5º For Core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6016752"/>
            <a:ext cx="66751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1" i="0" u="none">
                <a:solidFill>
                  <a:srgbClr val="FF0000"/>
                </a:solidFill>
                <a:latin typeface="Arial"/>
              </a:rPr>
              <a:t>0º area 16,416 mm2 (of 35,978 mm2)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10.Draft angle analysis (DFM)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draft_dfm_cav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258" y="548640"/>
            <a:ext cx="1586602" cy="4754880"/>
          </a:xfrm>
          <a:prstGeom prst="rect">
            <a:avLst/>
          </a:prstGeom>
        </p:spPr>
      </p:pic>
      <p:pic>
        <p:nvPicPr>
          <p:cNvPr id="5" name="Picture 4" descr="draft_dfm_cor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259" y="548640"/>
            <a:ext cx="1583320" cy="4754880"/>
          </a:xfrm>
          <a:prstGeom prst="rect">
            <a:avLst/>
          </a:prstGeom>
        </p:spPr>
      </p:pic>
      <p:pic>
        <p:nvPicPr>
          <p:cNvPr id="6" name="Picture 5" descr="legend_dra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378886"/>
            <a:ext cx="731520" cy="14484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40280" y="5440680"/>
            <a:ext cx="672084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After DFM: side walls 1.0º cav / 0.5º core, thin ribs 0.5º. Remaining green = block/detail walls: add in tool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6016752"/>
            <a:ext cx="667512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1" i="0" u="none">
                <a:solidFill>
                  <a:srgbClr val="FF0000"/>
                </a:solidFill>
                <a:latin typeface="Arial"/>
              </a:rPr>
              <a:t>0º area 11,049 mm2 (of 35,700 mm2)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11.Thickness mark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thick_cav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002" y="548640"/>
            <a:ext cx="1617114" cy="4846320"/>
          </a:xfrm>
          <a:prstGeom prst="rect">
            <a:avLst/>
          </a:prstGeom>
        </p:spPr>
      </p:pic>
      <p:pic>
        <p:nvPicPr>
          <p:cNvPr id="5" name="Picture 4" descr="thick_cor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1035" y="548640"/>
            <a:ext cx="1613769" cy="4846320"/>
          </a:xfrm>
          <a:prstGeom prst="rect">
            <a:avLst/>
          </a:prstGeom>
        </p:spPr>
      </p:pic>
      <p:pic>
        <p:nvPicPr>
          <p:cNvPr id="6" name="Picture 5" descr="legend_thi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149203"/>
            <a:ext cx="731520" cy="19078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40280" y="5440680"/>
            <a:ext cx="6720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Nominal wall 1.97 mm, ribs 0.8 mm. Red surface have thickness mark: contact walls Z 141-146 up to 3.0 mm.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12.Suggest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275320" y="91440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CAV</a:t>
            </a:r>
          </a:p>
        </p:txBody>
      </p:sp>
      <p:sp>
        <p:nvSpPr>
          <p:cNvPr id="5" name="Rectangle 4"/>
          <p:cNvSpPr/>
          <p:nvPr/>
        </p:nvSpPr>
        <p:spPr>
          <a:xfrm>
            <a:off x="8275320" y="749808"/>
            <a:ext cx="5029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26780" y="338328"/>
            <a:ext cx="0" cy="41148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93608" y="544068"/>
            <a:ext cx="466344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undercut_core_iso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97" y="502920"/>
            <a:ext cx="1649324" cy="49377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371600" y="530352"/>
            <a:ext cx="91440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Undercut</a:t>
            </a:r>
          </a:p>
        </p:txBody>
      </p:sp>
      <p:pic>
        <p:nvPicPr>
          <p:cNvPr id="10" name="Picture 9" descr="sec_too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114046"/>
            <a:ext cx="4663440" cy="225246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343400" y="3611880"/>
            <a:ext cx="461772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Have undercut: 10 PL catch teeth (1.0 x 1.5 x 4.0) for the front-case snap.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Function part, keep shape. Suggest to make undercut with lifter (10X / CAV).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Window in side wall rejected (cosmetic + weak snap).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13.Suggest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steel_cor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29" y="502920"/>
            <a:ext cx="1618781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530352"/>
            <a:ext cx="100584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Weak steel</a:t>
            </a:r>
          </a:p>
        </p:txBody>
      </p:sp>
      <p:pic>
        <p:nvPicPr>
          <p:cNvPr id="6" name="Picture 5" descr="sec_ste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314" y="502920"/>
            <a:ext cx="3816370" cy="2514600"/>
          </a:xfrm>
          <a:prstGeom prst="rect">
            <a:avLst/>
          </a:prstGeom>
        </p:spPr>
      </p:pic>
      <p:pic>
        <p:nvPicPr>
          <p:cNvPr id="7" name="Picture 6" descr="sec_steel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292" y="3017520"/>
            <a:ext cx="3992414" cy="2331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11880" y="2743200"/>
            <a:ext cx="7315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743200"/>
            <a:ext cx="64008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After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5440680"/>
            <a:ext cx="67208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Weak steel 0-0.75 mm between side plates/ribs and R8 fillet, easy broken. Suggest to add plastic (fill gap), 19 places, slot below kept.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14.Suggest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sec_r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363" y="640080"/>
            <a:ext cx="6043272" cy="3931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143000"/>
            <a:ext cx="73152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143000"/>
            <a:ext cx="64008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4754880"/>
            <a:ext cx="672084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Ribs 0.8-1.0 mm (0.4-0.5 x wall): no thickness mark, but 0º draft -&gt; sticking on core, ejection marks.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Suggest 0.5º draft each side, tip keep 0.8 mm, root grows: this rib 0.8 -&gt; 0.91 mm over 6.5 mm. Keep 0º: side-wall slot plates, cover-rail rims, ribs under the opening (cavity-formed).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15.Suggest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sec_th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14" y="548640"/>
            <a:ext cx="3828651" cy="4389120"/>
          </a:xfrm>
          <a:prstGeom prst="rect">
            <a:avLst/>
          </a:prstGeom>
        </p:spPr>
      </p:pic>
      <p:pic>
        <p:nvPicPr>
          <p:cNvPr id="5" name="Picture 4" descr="thick_cor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796" y="548640"/>
            <a:ext cx="1461527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40280" y="5074920"/>
            <a:ext cx="67208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Contact walls Z 141-146: up to 3.0 mm (1.5 x wall) -&gt; thickness mark risk and 20 s cooling vs 9 s.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Suggest to core out to 2.0 mm if the battery contact allows (customer to confirm; not changed in STEP).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16.Suggest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draft_dfm_cor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068" y="548640"/>
            <a:ext cx="152242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0560" y="731520"/>
            <a:ext cx="4480560" cy="22860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000" b="0" i="0" u="none">
                <a:solidFill>
                  <a:srgbClr val="000000"/>
                </a:solidFill>
                <a:latin typeface="Arial"/>
              </a:rPr>
              <a:t>Remaining 0º faces after DFM (by area):</a:t>
            </a:r>
          </a:p>
          <a:p>
            <a:pPr algn="l"/>
            <a:r>
              <a:rPr sz="1000" b="0" i="0" u="none">
                <a:solidFill>
                  <a:srgbClr val="000000"/>
                </a:solidFill>
                <a:latin typeface="Arial"/>
              </a:rPr>
              <a:t>ribs, plates, blocks: 4,735 mm2</a:t>
            </a:r>
          </a:p>
          <a:p>
            <a:pPr algn="l"/>
            <a:r>
              <a:rPr sz="1000" b="0" i="0" u="none">
                <a:solidFill>
                  <a:srgbClr val="000000"/>
                </a:solidFill>
                <a:latin typeface="Arial"/>
              </a:rPr>
              <a:t>battery bay: 4,308 mm2</a:t>
            </a:r>
          </a:p>
          <a:p>
            <a:pPr algn="l"/>
            <a:r>
              <a:rPr sz="1000" b="0" i="0" u="none">
                <a:solidFill>
                  <a:srgbClr val="000000"/>
                </a:solidFill>
                <a:latin typeface="Arial"/>
              </a:rPr>
              <a:t>top end (wall, rim, tongue): 1,839 mm2</a:t>
            </a:r>
          </a:p>
          <a:p>
            <a:pPr algn="l"/>
            <a:r>
              <a:rPr sz="1000" b="0" i="0" u="none">
                <a:solidFill>
                  <a:srgbClr val="000000"/>
                </a:solidFill>
                <a:latin typeface="Arial"/>
              </a:rPr>
              <a:t>inner side walls: 126 mm2</a:t>
            </a:r>
          </a:p>
          <a:p>
            <a:pPr algn="l"/>
            <a:r>
              <a:rPr sz="1000" b="0" i="0" u="none">
                <a:solidFill>
                  <a:srgbClr val="000000"/>
                </a:solidFill>
                <a:latin typeface="Arial"/>
              </a:rPr>
              <a:t>PL catch teeth: 40 mm2</a:t>
            </a:r>
          </a:p>
          <a:p>
            <a:pPr algn="l"/>
            <a:r>
              <a:rPr sz="1000" b="0" i="0" u="none">
                <a:solidFill>
                  <a:srgbClr val="000000"/>
                </a:solidFill>
                <a:latin typeface="Arial"/>
              </a:rPr>
              <a:t>bottom end: 2 mm2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3017520"/>
            <a:ext cx="45720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Add draft in tool design: blocks, battery bay walls, end walls, detail walls: 0.5º core / 1.0º cavity.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Keep 0º on: cover rails &amp; rims (cover fit), catch faces (snap).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Add R0.3-R0.5 at rib roots (electrode radius).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25780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The DFM STEP adds the draft on the parametric walls and the thin ribs; the section-driven detail prisms keep their measured 0º faces.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17.Mold Layout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mold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09122"/>
            <a:ext cx="4754880" cy="458255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94960" y="822960"/>
            <a:ext cx="201168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Mold 310 X 330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280160"/>
            <a:ext cx="201168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Insert 192 X 213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737360"/>
            <a:ext cx="1097280" cy="246888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100 TON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4960" y="4572000"/>
            <a:ext cx="35661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0000"/>
                </a:solidFill>
                <a:latin typeface="Arial"/>
              </a:rPr>
              <a:t>Machine size need to change from 80T to 100T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(mold 330 mm &gt; 310 mm tie bars)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86000"/>
            <a:ext cx="3566160" cy="1463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Arial"/>
              </a:rPr>
              <a:t>1 cav: clamp 39 t -&gt; 50 T, shot 35 g, 127 pcs/h</a:t>
            </a:r>
          </a:p>
          <a:p>
            <a:pPr algn="l"/>
            <a:r>
              <a:rPr sz="900" b="0" i="0" u="none">
                <a:solidFill>
                  <a:srgbClr val="000000"/>
                </a:solidFill>
                <a:latin typeface="Arial"/>
              </a:rPr>
              <a:t>2 cav: clamp 78 t -&gt; 80 T, shot 70 g, 254 pcs/h</a:t>
            </a:r>
          </a:p>
          <a:p>
            <a:pPr algn="l"/>
            <a:r>
              <a:rPr sz="900" b="0" i="0" u="none">
                <a:solidFill>
                  <a:srgbClr val="000000"/>
                </a:solidFill>
                <a:latin typeface="Arial"/>
              </a:rPr>
              <a:t>4 cav: clamp 155 t -&gt; 180 T, shot 140 g, 509 pcs/h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383280"/>
            <a:ext cx="3566160" cy="11887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Arial"/>
              </a:rPr>
              <a:t>Projected area 76.4 cm2/cav, cavity pressure 40 MPa, SF 1.2 (hand calc).</a:t>
            </a:r>
          </a:p>
          <a:p>
            <a:pPr algn="l"/>
            <a:r>
              <a:rPr sz="900" b="0" i="0" u="none">
                <a:solidFill>
                  <a:srgbClr val="000000"/>
                </a:solidFill>
                <a:latin typeface="Arial"/>
              </a:rPr>
              <a:t>typical tie-bar distances (H x V): 80 T 310 x 310, 100 T 360 x 360, 120 T 410 x 410 - confirm with the moulder's machine list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18.Fill Time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fill_cor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899" y="548640"/>
            <a:ext cx="1583320" cy="4754880"/>
          </a:xfrm>
          <a:prstGeom prst="rect">
            <a:avLst/>
          </a:prstGeom>
        </p:spPr>
      </p:pic>
      <p:pic>
        <p:nvPicPr>
          <p:cNvPr id="5" name="Picture 4" descr="fill_cav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618" y="548640"/>
            <a:ext cx="1586602" cy="4754880"/>
          </a:xfrm>
          <a:prstGeom prst="rect">
            <a:avLst/>
          </a:prstGeom>
        </p:spPr>
      </p:pic>
      <p:pic>
        <p:nvPicPr>
          <p:cNvPr id="6" name="Picture 5" descr="legend_f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203454"/>
            <a:ext cx="731520" cy="179933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240280" y="5440680"/>
            <a:ext cx="67208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0000"/>
                </a:solidFill>
                <a:latin typeface="Arial"/>
              </a:rPr>
              <a:t>Filling time = 1.67sec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598932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estimate, geometric proxy, not Moldflow: flow-length map from the gate; time = shot volume / 40 cm3/s.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19.Ejection Temperature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ejtime_cor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379" y="548640"/>
            <a:ext cx="1583320" cy="4754880"/>
          </a:xfrm>
          <a:prstGeom prst="rect">
            <a:avLst/>
          </a:prstGeom>
        </p:spPr>
      </p:pic>
      <p:pic>
        <p:nvPicPr>
          <p:cNvPr id="5" name="Picture 4" descr="legend_e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119547"/>
            <a:ext cx="731519" cy="19671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914400"/>
            <a:ext cx="301752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Time to reach ejection temperature (85 °C): median 8.6 s, p99 12.4 s.</a:t>
            </a:r>
          </a:p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Slowest: 3.0 mm contact walls.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98932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estimate, 1-D plate cooling per local thickness, not Moldflow.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20.Air Traps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air_core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940" y="548640"/>
            <a:ext cx="1611239" cy="4754880"/>
          </a:xfrm>
          <a:prstGeom prst="rect">
            <a:avLst/>
          </a:prstGeom>
        </p:spPr>
      </p:pic>
      <p:pic>
        <p:nvPicPr>
          <p:cNvPr id="5" name="Picture 4" descr="air_cav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413" y="548640"/>
            <a:ext cx="1623012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40280" y="5440680"/>
            <a:ext cx="67208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FF0000"/>
                </a:solidFill>
                <a:latin typeface="Arial"/>
              </a:rPr>
              <a:t>Make air vent around parts (last-fill points: 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98932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estimate, geometric proxy, not Moldflow: local maxima of flow length from the gate.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21.Weld Lines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weld_cav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795" y="548640"/>
            <a:ext cx="1591529" cy="4754880"/>
          </a:xfrm>
          <a:prstGeom prst="rect">
            <a:avLst/>
          </a:prstGeom>
        </p:spPr>
      </p:pic>
      <p:pic>
        <p:nvPicPr>
          <p:cNvPr id="5" name="Picture 4" descr="weld_cor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800" y="548640"/>
            <a:ext cx="1588238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40280" y="5440680"/>
            <a:ext cx="67208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0000"/>
                </a:solidFill>
                <a:latin typeface="Arial"/>
              </a:rPr>
              <a:t>Weld lines where flow fronts meet (red); check cosmetic side at the battery opening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98932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estimate, geometric proxy, not Moldflow: edges where the flow-front directions oppose.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" y="73152"/>
            <a:ext cx="68580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600" b="0" i="0" u="none">
                <a:solidFill>
                  <a:srgbClr val="000000"/>
                </a:solidFill>
                <a:latin typeface="Arial"/>
              </a:rPr>
              <a:t>22.Cycle Time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" y="6053328"/>
          <a:ext cx="1920240" cy="603504"/>
        </p:xfrm>
        <a:graphic>
          <a:graphicData uri="http://schemas.openxmlformats.org/drawingml/2006/table">
            <a:tbl>
              <a:tblPr firstRow="0" bandRow="0"/>
              <a:tblGrid>
                <a:gridCol w="731520"/>
                <a:gridCol w="594360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NG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APPD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0" marB="0">
                    <a:solidFill>
                      <a:srgbClr val="FFFFFF"/>
                    </a:solidFill>
                    <a:lnL w="6350">
                      <a:solidFill>
                        <a:srgbClr val="A6A6A6"/>
                      </a:solidFill>
                    </a:lnL>
                    <a:lnR w="6350">
                      <a:solidFill>
                        <a:srgbClr val="A6A6A6"/>
                      </a:solidFill>
                    </a:lnR>
                    <a:lnT w="6350">
                      <a:solidFill>
                        <a:srgbClr val="A6A6A6"/>
                      </a:solidFill>
                    </a:lnT>
                    <a:lnB w="6350">
                      <a:solidFill>
                        <a:srgbClr val="A6A6A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640080"/>
          <a:ext cx="42062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Picture 4" descr="dfm_cav_iso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349" y="548640"/>
            <a:ext cx="793301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3063240"/>
            <a:ext cx="4206240" cy="11887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1.Fill time = 1.670sec</a:t>
            </a:r>
          </a:p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2.Pack time = 8.0 sec</a:t>
            </a:r>
          </a:p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3.Cooling time = 13.6 sec</a:t>
            </a:r>
          </a:p>
          <a:p>
            <a:pPr algn="l"/>
            <a:r>
              <a:rPr sz="1200" b="0" i="0" u="none">
                <a:solidFill>
                  <a:srgbClr val="000000"/>
                </a:solidFill>
                <a:latin typeface="Arial"/>
              </a:rPr>
              <a:t>4.Mold open time = 5.0 sec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43400"/>
            <a:ext cx="859536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1400" b="0" i="0" u="none">
                <a:solidFill>
                  <a:srgbClr val="000000"/>
                </a:solidFill>
                <a:latin typeface="Arial"/>
              </a:rPr>
              <a:t>Cycle time = Fill + Pack + Cooling + Mold open = </a:t>
            </a:r>
            <a:r>
              <a:rPr sz="1400" b="1" i="0" u="sng">
                <a:solidFill>
                  <a:srgbClr val="FF0000"/>
                </a:solidFill>
                <a:latin typeface="Arial"/>
              </a:rPr>
              <a:t>28.270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846320"/>
            <a:ext cx="6858000" cy="2286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/>
            <a:r>
              <a:rPr sz="800" b="0" i="1" u="none">
                <a:solidFill>
                  <a:srgbClr val="808080"/>
                </a:solidFill>
                <a:latin typeface="Arial"/>
              </a:rPr>
              <a:t>Cooling calculated (1-D plate, ABS, 2.46 mm = 99.5 % of the part); fill = estimate; pack 8.0 s and mold open 5.0 s = supplier defaults from the reference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