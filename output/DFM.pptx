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Share of surface by wall thickness [mm]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 received</c:v>
                </c:pt>
              </c:strCache>
            </c:strRef>
          </c:tx>
          <c:spPr>
            <a:solidFill>
              <a:srgbClr val="5B6770"/>
            </a:solidFill>
          </c:spPr>
          <c:cat>
            <c:strRef>
              <c:f>Sheet1!$A$2:$A$10</c:f>
              <c:strCache>
                <c:ptCount val="9"/>
                <c:pt idx="0">
                  <c:v>0.0–0.6</c:v>
                </c:pt>
                <c:pt idx="1">
                  <c:v>0.6–0.9</c:v>
                </c:pt>
                <c:pt idx="2">
                  <c:v>0.9–1.1</c:v>
                </c:pt>
                <c:pt idx="3">
                  <c:v>1.1–1.4</c:v>
                </c:pt>
                <c:pt idx="4">
                  <c:v>1.4–1.8</c:v>
                </c:pt>
                <c:pt idx="5">
                  <c:v>1.8–2.2</c:v>
                </c:pt>
                <c:pt idx="6">
                  <c:v>2.2–2.6</c:v>
                </c:pt>
                <c:pt idx="7">
                  <c:v>2.6–3.0</c:v>
                </c:pt>
                <c:pt idx="8">
                  <c:v>&gt;3.0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4.7</c:v>
                </c:pt>
                <c:pt idx="2">
                  <c:v>13.1</c:v>
                </c:pt>
                <c:pt idx="3">
                  <c:v>4.1</c:v>
                </c:pt>
                <c:pt idx="4">
                  <c:v>3.4</c:v>
                </c:pt>
                <c:pt idx="5">
                  <c:v>74.7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DFM</c:v>
                </c:pt>
              </c:strCache>
            </c:strRef>
          </c:tx>
          <c:spPr>
            <a:solidFill>
              <a:srgbClr val="F28E2B"/>
            </a:solidFill>
          </c:spPr>
          <c:cat>
            <c:strRef>
              <c:f>Sheet1!$A$2:$A$10</c:f>
              <c:strCache>
                <c:ptCount val="9"/>
                <c:pt idx="0">
                  <c:v>0.0–0.6</c:v>
                </c:pt>
                <c:pt idx="1">
                  <c:v>0.6–0.9</c:v>
                </c:pt>
                <c:pt idx="2">
                  <c:v>0.9–1.1</c:v>
                </c:pt>
                <c:pt idx="3">
                  <c:v>1.1–1.4</c:v>
                </c:pt>
                <c:pt idx="4">
                  <c:v>1.4–1.8</c:v>
                </c:pt>
                <c:pt idx="5">
                  <c:v>1.8–2.2</c:v>
                </c:pt>
                <c:pt idx="6">
                  <c:v>2.2–2.6</c:v>
                </c:pt>
                <c:pt idx="7">
                  <c:v>2.6–3.0</c:v>
                </c:pt>
                <c:pt idx="8">
                  <c:v>&gt;3.0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</c:v>
                </c:pt>
                <c:pt idx="1">
                  <c:v>1.6</c:v>
                </c:pt>
                <c:pt idx="2">
                  <c:v>13.9</c:v>
                </c:pt>
                <c:pt idx="3">
                  <c:v>7.3</c:v>
                </c:pt>
                <c:pt idx="4">
                  <c:v>4.5</c:v>
                </c:pt>
                <c:pt idx="5">
                  <c:v>68.9</c:v>
                </c:pt>
                <c:pt idx="6">
                  <c:v>3.5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900">
          <a:solidFill>
            <a:srgbClr val="1F2A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Thermal bow, 65.5 mm plate</c:v>
                </c:pt>
              </c:strCache>
            </c:strRef>
          </c:tx>
          <c:spPr>
            <a:ln w="31750">
              <a:solidFill>
                <a:srgbClr val="4C78A8"/>
              </a:solidFill>
            </a:ln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0.0</c:v>
                </c:pt>
                <c:pt idx="1">
                  <c:v>0.0241</c:v>
                </c:pt>
                <c:pt idx="2">
                  <c:v>0.0482</c:v>
                </c:pt>
                <c:pt idx="3">
                  <c:v>0.0723</c:v>
                </c:pt>
                <c:pt idx="4">
                  <c:v>0.0964</c:v>
                </c:pt>
                <c:pt idx="5">
                  <c:v>0.1205</c:v>
                </c:pt>
                <c:pt idx="6">
                  <c:v>0.1446</c:v>
                </c:pt>
                <c:pt idx="7">
                  <c:v>0.1687</c:v>
                </c:pt>
                <c:pt idx="8">
                  <c:v>0.1928</c:v>
                </c:pt>
                <c:pt idx="9">
                  <c:v>0.2169</c:v>
                </c:pt>
                <c:pt idx="10">
                  <c:v>0.241</c:v>
                </c:pt>
                <c:pt idx="11">
                  <c:v>0.2651</c:v>
                </c:pt>
                <c:pt idx="12">
                  <c:v>0.2892</c:v>
                </c:pt>
                <c:pt idx="13">
                  <c:v>0.3133</c:v>
                </c:pt>
                <c:pt idx="14">
                  <c:v>0.3374</c:v>
                </c:pt>
                <c:pt idx="15">
                  <c:v>0.3615</c:v>
                </c:pt>
                <c:pt idx="16">
                  <c:v>0.3856</c:v>
                </c:pt>
                <c:pt idx="17">
                  <c:v>0.4097</c:v>
                </c:pt>
                <c:pt idx="18">
                  <c:v>0.4338</c:v>
                </c:pt>
                <c:pt idx="19">
                  <c:v>0.4579</c:v>
                </c:pt>
                <c:pt idx="20">
                  <c:v>0.482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Measured in source model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D62728"/>
              </a:solidFill>
              <a:ln>
                <a:solidFill>
                  <a:srgbClr val="D62728"/>
                </a:solidFill>
              </a:ln>
            </c:spPr>
          </c:marker>
          <c:xVal>
            <c:numRef>
              <c:f>Sheet1!$A$25:$A$25</c:f>
              <c:numCache>
                <c:formatCode>General</c:formatCode>
                <c:ptCount val="1"/>
                <c:pt idx="0">
                  <c:v>14.1</c:v>
                </c:pt>
              </c:numCache>
            </c:numRef>
          </c:xVal>
          <c:yVal>
            <c:numRef>
              <c:f>Sheet1!$B$25:$B$25</c:f>
              <c:numCache>
                <c:formatCode>General</c:formatCode>
                <c:ptCount val="1"/>
                <c:pt idx="0">
                  <c:v>0.34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Sheet1!$B$27</c:f>
              <c:strCache>
                <c:ptCount val="1"/>
                <c:pt idx="0">
                  <c:v>Target  ΔT ≤ 5 K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Sheet1!$A$28:$A$28</c:f>
              <c:numCache>
                <c:formatCode>General</c:formatCode>
                <c:ptCount val="1"/>
                <c:pt idx="0">
                  <c:v>5</c:v>
                </c:pt>
              </c:numCache>
            </c:numRef>
          </c:xVal>
          <c:yVal>
            <c:numRef>
              <c:f>Sheet1!$B$28:$B$28</c:f>
              <c:numCache>
                <c:formatCode>General</c:formatCode>
                <c:ptCount val="1"/>
                <c:pt idx="0">
                  <c:v>0.1205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A/B mould-temperature difference ΔT [K]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Bow [mm]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1F2A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Input: input/part.step = design-intent battery cover rebuilt from the FreeCAD mesh (repo battery_cover_RE). Part identity from assembly drawing ANRMTAS0001F sheet 2 BOM item 6 (71.5 x 31.0 x 9.0 envelope). Material ABS general purpose, typical datasheet values used for all calculations; confirm with the chosen grade. All geometry numbers are measured from the STEP files by battery_cover_RE/dfm/run_dfm.py.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Faces are classified by the sign of the normal's Y component after drafting (A releases +Y, B releases -Y) and by a straight-pull ray test (undercut). The PL is the set of mesh edges between A and B faces. Section rasters: air reachable from +Y = A steel, from -Y = B steel, enclosed = undercut.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= asin(|n . Y|) per mesh face; 0.25-1 deg band in the DFM model is the 1 deg drafted walls measured on a 0.02 mm tessellation (they read 0.99-1.0 deg). Colours: red &lt;0.25, yellow &lt;0.9, light green &lt;2.9, green sloped, grey flat to the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Undercut test: every face must see free space along its own release direction (+Y for A, -Y for B); vertical faces must escape either way. Lifter sized for the gap depth 4.5 mm + 0.5 mm clearance at 10 deg max lifter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Thickness = diameter of the largest inscribed sphere tangent at each of 30,000 surface samples, then a 0.7 mm local max-filter to remove the known under-read next to sharp convex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length = shortest surface path from the gate on a ~1.4 mm remeshed surface (Dijkstra). This is a geometric fill proxy, not a Moldflow result; confirm pressure/weld-line temperature in a fill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Ø3 pin site is verified by casting 17 rays over a disc of radius 2.0 mm (pin + 0.5 mm) and requiring all to land on the Y 18 inner face. Ribs (1.0 mm) are too thin for pins; add blade ejectors at rib ends only if trials show sticking. Witness marks are on the non-cosmetic inner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projected area is measured on the DFM STEP (sum of +Y-facing area x n_y). Runner allowance assumes Ø4/Ø3 H-balanced cold runner. Cycle time used for output: 17.1 s. Annual volume was not supplied; the cavitation choice is an assumption to confirm with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1-D plate cooling (mid-plane to ejection temperature). Heat per shot = m*cp*(Tm-Te) for the 4-cavity shot; water at 60 C (nu 0.47e-6 m2/s). Values are hand calculations to size the layout; confirm with a cooling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Bands = percent of the maximum shortest surface path from the gate (geometric flow-front proxy). A flow simulation should confirm weld-line position and temperature, pressure drop and venting.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Thermal bow of a plate with a through-thickness mould-temperature difference: kappa = CTE*dT/t, delta = kappa*L^2/8 (L 65.5 mm plate, t 2.0 mm, CTE 90e-6/K). The 0.34 mm bow found in the reverse-engineered source mesh is consistent with about 14 K; this is an interpretation, not a measurement. Deflection: simply supported beam, 10 N at mid-span, E 2300 MPa, I from the measured Z=40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part_DFM.step is generated by battery_cover_RE/src/battery_cover_dfm.py from lib/geometry_dfm.py, which reuses the reverse-engineered lib/geometry.py (same frame, same recess and latch profiles).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Battery Cover  ANRMTPT0003F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155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F28E2B"/>
                </a:solidFill>
                <a:latin typeface="Calibri"/>
              </a:rPr>
              <a:t>DFM review for injection moulding  ·  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91056"/>
            <a:ext cx="11155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TE-12XCME remote control  ·  assembly ANRMTAS0001F (item 6)  ·  PhotonX R&amp;D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1488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40" y="2148840"/>
            <a:ext cx="21488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_input_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27" y="2194560"/>
            <a:ext cx="1145664" cy="3931920"/>
          </a:xfrm>
          <a:prstGeom prst="rect">
            <a:avLst/>
          </a:prstGeom>
        </p:spPr>
      </p:pic>
      <p:pic>
        <p:nvPicPr>
          <p:cNvPr id="8" name="Picture 7" descr="r_input_i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393" y="2194560"/>
            <a:ext cx="1127333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17920"/>
            <a:ext cx="4434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  <a:latin typeface="Calibri"/>
              </a:rPr>
              <a:t>As received: outer (cosmetic) face  |  inner 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148840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71.5 × 31 ×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715768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envelope L × W × H [mm]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2148840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4.61 cm³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715768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volume  ·  4.84 g in 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20.9 cm²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904488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projected area (pull ±Y)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337560"/>
            <a:ext cx="3108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2.0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904488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nominal wall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457200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01_assemb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101100"/>
            <a:ext cx="3291840" cy="72487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15400" y="4572000"/>
            <a:ext cx="2834640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Found in the as-received model</a:t>
            </a:r>
          </a:p>
          <a:p>
            <a:pPr algn="l"/>
            <a:r>
              <a:rPr sz="1200" b="0" i="0">
                <a:solidFill>
                  <a:srgbClr val="F28E2B"/>
                </a:solidFill>
                <a:latin typeface="Calibri"/>
              </a:rPr>
              <a:t>1,372 mm² of walls at 0° draft</a:t>
            </a:r>
          </a:p>
          <a:p>
            <a:pPr algn="l"/>
            <a:r>
              <a:rPr sz="1200" b="0" i="0">
                <a:solidFill>
                  <a:srgbClr val="F28E2B"/>
                </a:solidFill>
                <a:latin typeface="Calibri"/>
              </a:rPr>
              <a:t>57 mm² undercut (hook gap)</a:t>
            </a:r>
          </a:p>
          <a:p>
            <a:pPr algn="l"/>
            <a:r>
              <a:rPr sz="1200" b="0" i="0">
                <a:solidFill>
                  <a:srgbClr val="F28E2B"/>
                </a:solidFill>
                <a:latin typeface="Calibri"/>
              </a:rPr>
              <a:t>sharp internal corners (R0)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All three are fixed in part_DFM.step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Parting line &amp; parting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Flat PL on the outer-face edge; one 7 mm step around the snap latch. No side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  PL /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2 / 12</a:t>
            </a:r>
          </a:p>
        </p:txBody>
      </p:sp>
      <p:pic>
        <p:nvPicPr>
          <p:cNvPr id="7" name="Picture 6" descr="f02_pa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9116"/>
            <a:ext cx="7589520" cy="2593886"/>
          </a:xfrm>
          <a:prstGeom prst="rect">
            <a:avLst/>
          </a:prstGeom>
        </p:spPr>
      </p:pic>
      <p:pic>
        <p:nvPicPr>
          <p:cNvPr id="8" name="Picture 7" descr="f02_ps_s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653664"/>
            <a:ext cx="7589520" cy="12539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417320"/>
            <a:ext cx="3566160" cy="4892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337560" cy="4663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Pull ±Y</a:t>
            </a:r>
            <a:r>
              <a:rPr sz="1200">
                <a:solidFill>
                  <a:srgbClr val="1F2A36"/>
                </a:solidFill>
                <a:latin typeface="Calibri"/>
              </a:rPr>
              <a:t> (plate normal). Part stays on the core (B) and is ejected from B.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A / cavity:</a:t>
            </a:r>
            <a:r>
              <a:rPr sz="1200">
                <a:solidFill>
                  <a:srgbClr val="1F2A36"/>
                </a:solidFill>
                <a:latin typeface="Calibri"/>
              </a:rPr>
              <a:t> cosmetic outer face, bumps, thumb recess, latch catch faces (blue).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B / core:</a:t>
            </a:r>
            <a:r>
              <a:rPr sz="1200">
                <a:solidFill>
                  <a:srgbClr val="1F2A36"/>
                </a:solidFill>
                <a:latin typeface="Calibri"/>
              </a:rPr>
              <a:t> ribs, rails, lip, hook, latch inner face (orange).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Main PL:</a:t>
            </a:r>
            <a:r>
              <a:rPr sz="1200">
                <a:solidFill>
                  <a:srgbClr val="1F2A36"/>
                </a:solidFill>
                <a:latin typeface="Calibri"/>
              </a:rPr>
              <a:t> outer-face perimeter at Y 20 (red). The witness line sits on the hidden edge, not on the cosmetic face.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Stepped PS:</a:t>
            </a:r>
            <a:r>
              <a:rPr sz="1200">
                <a:solidFill>
                  <a:srgbClr val="1F2A36"/>
                </a:solidFill>
                <a:latin typeface="Calibri"/>
              </a:rPr>
              <a:t> drops 7 mm to Y 13 around the snap arm. Tool shut-off faces ≥ 5°.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Hook:</a:t>
            </a:r>
            <a:r>
              <a:rPr sz="1200">
                <a:solidFill>
                  <a:srgbClr val="1F2A36"/>
                </a:solidFill>
                <a:latin typeface="Calibri"/>
              </a:rPr>
              <a:t> local 3° shut-off through the new window, not a lifter.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422 PL edges</a:t>
            </a:r>
            <a:r>
              <a:rPr sz="1200">
                <a:solidFill>
                  <a:srgbClr val="1F2A36"/>
                </a:solidFill>
                <a:latin typeface="Calibri"/>
              </a:rPr>
              <a:t> found automatically at the A/B face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Draft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As received: every wall at 0°. DFM: 1° core side, 3° cavity side and shut-off.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 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3 / 12</a:t>
            </a:r>
          </a:p>
        </p:txBody>
      </p:sp>
      <p:pic>
        <p:nvPicPr>
          <p:cNvPr id="7" name="Picture 6" descr="f03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98" y="1325880"/>
            <a:ext cx="6992043" cy="50292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463040"/>
          <a:ext cx="3977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143000"/>
                <a:gridCol w="1143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Draft band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 received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DFM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&lt; 0.25°  (zero draft)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D62728"/>
                          </a:solidFill>
                          <a:latin typeface="Calibri"/>
                        </a:rPr>
                        <a:t>1,372 mm²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0.3 mm²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0.25° – 1°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1,206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1° – 3°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3° – 80° (sloped)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295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&gt; 80° (flat to pull)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3,953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3,824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3291840"/>
            <a:ext cx="3977639" cy="3017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1° core side:</a:t>
            </a:r>
            <a:r>
              <a:rPr sz="1200">
                <a:solidFill>
                  <a:srgbClr val="1F2A36"/>
                </a:solidFill>
                <a:latin typeface="Calibri"/>
              </a:rPr>
              <a:t> rails, lip, ribs, hook, latch, coring pins. The rib tip stays ≥ 0.93 mm.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3° cavity side:</a:t>
            </a:r>
            <a:r>
              <a:rPr sz="1200">
                <a:solidFill>
                  <a:srgbClr val="1F2A36"/>
                </a:solidFill>
                <a:latin typeface="Calibri"/>
              </a:rPr>
              <a:t> outer bumps, ready for texture (add 1° per 0.025 mm of texture depth).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PL and shut-off edges stay sharp.</a:t>
            </a:r>
            <a:r>
              <a:rPr sz="1200">
                <a:solidFill>
                  <a:srgbClr val="1F2A36"/>
                </a:solidFill>
                <a:latin typeface="Calibri"/>
              </a:rPr>
              <a:t> The latch catch face tilts 1° for release and keeps its 0.7 mm catch.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Remaining &lt; 1 mm²</a:t>
            </a:r>
            <a:r>
              <a:rPr sz="1200">
                <a:solidFill>
                  <a:srgbClr val="1F2A36"/>
                </a:solidFill>
                <a:latin typeface="Calibri"/>
              </a:rPr>
              <a:t> are fillet end-caps (tessellation slivers), not moulded walls.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Undercut: retention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A 1.0 mm gap behind the hook block is shadowed by the plate: 57 mm² of undercut.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  UNDERCUT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4 / 12</a:t>
            </a:r>
          </a:p>
        </p:txBody>
      </p:sp>
      <p:pic>
        <p:nvPicPr>
          <p:cNvPr id="7" name="Picture 6" descr="f04_undercut_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76104"/>
            <a:ext cx="6949439" cy="2122710"/>
          </a:xfrm>
          <a:prstGeom prst="rect">
            <a:avLst/>
          </a:prstGeom>
        </p:spPr>
      </p:pic>
      <p:pic>
        <p:nvPicPr>
          <p:cNvPr id="8" name="Picture 7" descr="f04_undercut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91006"/>
            <a:ext cx="6949440" cy="236782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1463040"/>
          <a:ext cx="42519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914400"/>
                <a:gridCol w="9601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Part impact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Angled lifter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10°, 5.0 mm travel → 28 mm stroke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costly, wear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Side slider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gap opens toward the part interior (−Z)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D62728"/>
                          </a:solidFill>
                          <a:latin typeface="Calibri"/>
                        </a:rPr>
                        <a:t>not feasible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Pass-through window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A steel through a 6.0 × 4.5 window, 3° shut-off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hole in the outer face at the hook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8B57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4114800"/>
            <a:ext cx="2011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D62728"/>
                </a:solidFill>
                <a:latin typeface="Cambria"/>
              </a:rPr>
              <a:t>57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681728"/>
            <a:ext cx="2011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undercut, as received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114800"/>
            <a:ext cx="2103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E8B57"/>
                </a:solidFill>
                <a:latin typeface="Cambria"/>
              </a:rPr>
              <a:t>≈ 0 mm²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681728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after (0.04 mm² numerical slivers)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49240"/>
            <a:ext cx="4160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A36"/>
                </a:solidFill>
                <a:latin typeface="Calibri"/>
              </a:rPr>
              <a:t>Check with the rear case: </a:t>
            </a:r>
            <a:r>
              <a:rPr sz="1100" b="0" i="0">
                <a:solidFill>
                  <a:srgbClr val="1F2A36"/>
                </a:solidFill>
                <a:latin typeface="Calibri"/>
              </a:rPr>
              <a:t>the window sits at the hook end of the cover. If it has to stay invisible, keep the closed hook and budget the lifter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Wall thickness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Nominal wall held at a uniform 2.0 mm; ribs at 50 % of wall. No thick nodes (max 2.31 mm).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  THICKNESS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5 / 12</a:t>
            </a:r>
          </a:p>
        </p:txBody>
      </p:sp>
      <p:pic>
        <p:nvPicPr>
          <p:cNvPr id="7" name="Picture 6" descr="f05_thick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37" y="1325880"/>
            <a:ext cx="5840484" cy="301752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4389120"/>
          <a:ext cx="640080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463040"/>
          <a:ext cx="4526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5448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Wall [mm]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 received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DFM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min (0.5 %)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max (99.5 %)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rib root / wall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0.8 / 2.0 (40 %)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1.0 / 2.0 (50 %)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3063240"/>
            <a:ext cx="4526280" cy="3291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Primary wall 2.0 mm</a:t>
            </a:r>
            <a:r>
              <a:rPr sz="1200">
                <a:solidFill>
                  <a:srgbClr val="1F2A36"/>
                </a:solidFill>
                <a:latin typeface="Calibri"/>
              </a:rPr>
              <a:t> everywhere (plate + recess shell): inside the 2–3 mm target and uniform.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Ribs, rails and hook stay at 50–65 % of the wall</a:t>
            </a:r>
            <a:r>
              <a:rPr sz="1200">
                <a:solidFill>
                  <a:srgbClr val="1F2A36"/>
                </a:solidFill>
                <a:latin typeface="Calibri"/>
              </a:rPr>
              <a:t> so the class-A face does not show sink. Making them 2–3 mm would create 4 mm nodes.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Thinnest section 0.8 → 1.0 mm</a:t>
            </a:r>
            <a:r>
              <a:rPr sz="1200">
                <a:solidFill>
                  <a:srgbClr val="1F2A36"/>
                </a:solidFill>
                <a:latin typeface="Calibri"/>
              </a:rPr>
              <a:t> at the rib root. Measured minimum is the drafted tip.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Max 2.3 mm</a:t>
            </a:r>
            <a:r>
              <a:rPr sz="1200">
                <a:solidFill>
                  <a:srgbClr val="1F2A36"/>
                </a:solidFill>
                <a:latin typeface="Calibri"/>
              </a:rPr>
              <a:t> at radiused rib roots: +15 % only, so no local cooling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Gate location &amp;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Tunnel gate at the latch end: gate mark hidden, the snap arm fills first, weld line under the top lip.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 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6 / 12</a:t>
            </a:r>
          </a:p>
        </p:txBody>
      </p:sp>
      <p:pic>
        <p:nvPicPr>
          <p:cNvPr id="7" name="Picture 6" descr="f06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131" y="1325880"/>
            <a:ext cx="5394217" cy="3246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61772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325880"/>
                <a:gridCol w="868680"/>
                <a:gridCol w="548640"/>
                <a:gridCol w="1417320"/>
                <a:gridCol w="178308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Max flow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 / t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Gate mark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Weld line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edge gate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82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hidden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centre of cosmetic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D62728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tunnel gate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59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side wall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across cosmetic face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D62728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tunnel gate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79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hidden (end face)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under top lip (Z 73–77)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8B57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G4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pin-point (3-plate)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54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B face, 3-plate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above window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1417320"/>
            <a:ext cx="3474720" cy="4892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554480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8E2B"/>
                </a:solidFill>
                <a:latin typeface="Cambria"/>
              </a:rPr>
              <a:t>Selected: G3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3154680" cy="4206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Type:</a:t>
            </a:r>
            <a:r>
              <a:rPr sz="1200">
                <a:solidFill>
                  <a:srgbClr val="1F2A36"/>
                </a:solidFill>
                <a:latin typeface="Calibri"/>
              </a:rPr>
              <a:t> tunnel (submarine) gate from B, auto-degated on ejection. No manual trim.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Size:</a:t>
            </a:r>
            <a:r>
              <a:rPr sz="1200">
                <a:solidFill>
                  <a:srgbClr val="1F2A36"/>
                </a:solidFill>
                <a:latin typeface="Calibri"/>
              </a:rPr>
              <a:t> Ø1.0 mm tip (0.5 × wall), 40° tunnel, 1.2 mm land.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Where:</a:t>
            </a:r>
            <a:r>
              <a:rPr sz="1200">
                <a:solidFill>
                  <a:srgbClr val="1F2A36"/>
                </a:solidFill>
                <a:latin typeface="Calibri"/>
              </a:rPr>
              <a:t> bottom end face beside the thumb recess (X 3, Z 11.5), below the PL.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Flow:</a:t>
            </a:r>
            <a:r>
              <a:rPr sz="1200">
                <a:solidFill>
                  <a:srgbClr val="1F2A36"/>
                </a:solidFill>
                <a:latin typeface="Calibri"/>
              </a:rPr>
              <a:t> L/t 40, far below the ABS limit of about 150:1 at 2 mm.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Why not G2 / G4:</a:t>
            </a:r>
            <a:r>
              <a:rPr sz="1200">
                <a:solidFill>
                  <a:srgbClr val="1F2A36"/>
                </a:solidFill>
                <a:latin typeface="Calibri"/>
              </a:rPr>
              <a:t> shorter flow, but the weld line crosses the cosmetic face or needs a 3-plate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Ejection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11 round pins on flat B-side faces. With 1° draft, the part releases without scuffing the ribs.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07  EJECTION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7 / 12</a:t>
            </a:r>
          </a:p>
        </p:txBody>
      </p:sp>
      <p:pic>
        <p:nvPicPr>
          <p:cNvPr id="7" name="Picture 6" descr="f07_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78" y="1325880"/>
            <a:ext cx="6051923" cy="33832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21040" y="1463040"/>
          <a:ext cx="34290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234440"/>
                <a:gridCol w="1325880"/>
                <a:gridCol w="5486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Pin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3.6  Z 22.0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3.6  Z 44.0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3.6  Z 64.0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15.5  Z 22.0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15.5  Z 44.0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15.5  Z 64.0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27.4  Z 22.0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27.4  Z 44.0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27.4  Z 64.0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plate inner 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15.5  Z 70.8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hook block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Ø2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X 15.5  Z 9.0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latch arm (inner face)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A36"/>
                          </a:solidFill>
                          <a:latin typeface="Calibri"/>
                        </a:rPr>
                        <a:t>Ø2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21945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8E2B"/>
                </a:solidFill>
                <a:latin typeface="Cambria"/>
              </a:rPr>
              <a:t>11 pins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58968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9 × Ø3 plate · 2 × Ø2 hook / latch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892040"/>
            <a:ext cx="21945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8E2B"/>
                </a:solidFill>
                <a:latin typeface="Cambria"/>
              </a:rPr>
              <a:t>15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458968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stroke (core depth 7 mm + 8)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846320"/>
            <a:ext cx="274320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0">
                <a:solidFill>
                  <a:srgbClr val="1F2A36"/>
                </a:solidFill>
                <a:latin typeface="Calibri"/>
              </a:rPr>
              <a:t>Pins are checked to land fully on flat faces.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0">
                <a:solidFill>
                  <a:srgbClr val="1F2A36"/>
                </a:solidFill>
                <a:latin typeface="Calibri"/>
              </a:rPr>
              <a:t>Ø2 pin on the latch arm stops the catch from dragging.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Cavitation &amp; machine tonnage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4 cavities: 42 t calculated clamp → 50 t machine, 22 g shot, 842 parts/h.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08  CAVITIES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8 / 12</a:t>
            </a:r>
          </a:p>
        </p:txBody>
      </p:sp>
      <p:pic>
        <p:nvPicPr>
          <p:cNvPr id="7" name="Picture 6" descr="f08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43447"/>
            <a:ext cx="4206240" cy="359406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0" y="1463040"/>
          <a:ext cx="6903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34440"/>
                <a:gridCol w="1325880"/>
                <a:gridCol w="1005840"/>
                <a:gridCol w="105156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Cavities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Proj. area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Clamp (calc)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Machine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Shot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Parts / h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21.6 cm²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10.6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25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5.5 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43.3 cm²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21.2 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25 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11.0 g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421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86.6 cm²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42.4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50 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22.1 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8E2B"/>
                          </a:solidFill>
                          <a:latin typeface="Calibri"/>
                        </a:rPr>
                        <a:t>842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173.2 cm²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84.7 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100 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44.1 g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1,684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846320" y="3520440"/>
            <a:ext cx="6903720" cy="10972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611880"/>
            <a:ext cx="65836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1F2A36"/>
                </a:solidFill>
                <a:latin typeface="Cambria"/>
              </a:rPr>
              <a:t>F = n · (A</a:t>
            </a:r>
            <a:r>
              <a:rPr sz="900" b="0" i="0">
                <a:solidFill>
                  <a:srgbClr val="1F2A36"/>
                </a:solidFill>
                <a:latin typeface="Cambria"/>
              </a:rPr>
              <a:t>part</a:t>
            </a:r>
            <a:r>
              <a:rPr sz="1600" b="0" i="0">
                <a:solidFill>
                  <a:srgbClr val="1F2A36"/>
                </a:solidFill>
                <a:latin typeface="Cambria"/>
              </a:rPr>
              <a:t> + A</a:t>
            </a:r>
            <a:r>
              <a:rPr sz="900" b="0" i="0">
                <a:solidFill>
                  <a:srgbClr val="1F2A36"/>
                </a:solidFill>
                <a:latin typeface="Cambria"/>
              </a:rPr>
              <a:t>runner</a:t>
            </a:r>
            <a:r>
              <a:rPr sz="1600" b="0" i="0">
                <a:solidFill>
                  <a:srgbClr val="1F2A36"/>
                </a:solidFill>
                <a:latin typeface="Cambria"/>
              </a:rPr>
              <a:t>) · p</a:t>
            </a:r>
            <a:r>
              <a:rPr sz="900" b="0" i="0">
                <a:solidFill>
                  <a:srgbClr val="1F2A36"/>
                </a:solidFill>
                <a:latin typeface="Cambria"/>
              </a:rPr>
              <a:t>cavity</a:t>
            </a:r>
            <a:r>
              <a:rPr sz="1600" b="0" i="0">
                <a:solidFill>
                  <a:srgbClr val="1F2A36"/>
                </a:solidFill>
                <a:latin typeface="Cambria"/>
              </a:rPr>
              <a:t> · SF</a:t>
            </a:r>
          </a:p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A_part = 20.65 cm² (measured)  ·  A_runner ≈ 1.0 cm²/cavity  ·  p = 40 MPa (ABS, 2 mm wall)  ·  SF = 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800600"/>
            <a:ext cx="6903720" cy="1554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4 cavities</a:t>
            </a:r>
            <a:r>
              <a:rPr sz="1200">
                <a:solidFill>
                  <a:srgbClr val="1F2A36"/>
                </a:solidFill>
                <a:latin typeface="Calibri"/>
              </a:rPr>
              <a:t> suit typical remote-control volumes (0.3–1 M/yr at 85 % OEE). Move to 8 cavities on 100 t above ~1.5 M/yr.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28E2B"/>
                </a:solidFill>
                <a:latin typeface="Calibri"/>
              </a:rPr>
              <a:t>▸  </a:t>
            </a:r>
            <a:r>
              <a:rPr sz="1200" b="1">
                <a:solidFill>
                  <a:srgbClr val="1F2A36"/>
                </a:solidFill>
                <a:latin typeface="Calibri"/>
              </a:rPr>
              <a:t>Shot of 22 g</a:t>
            </a:r>
            <a:r>
              <a:rPr sz="1200">
                <a:solidFill>
                  <a:srgbClr val="1F2A36"/>
                </a:solidFill>
                <a:latin typeface="Calibri"/>
              </a:rPr>
              <a:t> should sit at 20–80 % of the barrel. A 50 t press with a Ø22–25 mm screw fits.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Cooling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Cooling time 9.0 s at the 2.0 mm wall; cycle ≈ 17 s. Separate A and B circuits held within 5 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  COOLING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9 / 12</a:t>
            </a:r>
          </a:p>
        </p:txBody>
      </p:sp>
      <p:pic>
        <p:nvPicPr>
          <p:cNvPr id="7" name="Picture 6" descr="f09_c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72116"/>
            <a:ext cx="7772400" cy="29993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00600"/>
            <a:ext cx="1920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9.0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67528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cooling time (2.0 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800600"/>
            <a:ext cx="1920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17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5367528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cycle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800600"/>
            <a:ext cx="1920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2.3 L/min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5367528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per circuit (Ø6)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19" y="4800600"/>
            <a:ext cx="1920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28E2B"/>
                </a:solidFill>
                <a:latin typeface="Cambria"/>
              </a:rPr>
              <a:t>Re 17,163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5367528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6770"/>
                </a:solidFill>
                <a:latin typeface="Calibri"/>
              </a:rPr>
              <a:t>turbulent (&gt; 10,000)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17320"/>
            <a:ext cx="3383280" cy="4892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554480"/>
            <a:ext cx="3154680" cy="4663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t = s²/(π²α) · ln[(4/π)(Tm−Tw)/(Te−Tw)]</a:t>
            </a:r>
            <a:r>
              <a:rPr sz="1100">
                <a:solidFill>
                  <a:srgbClr val="1F2A36"/>
                </a:solidFill>
                <a:latin typeface="Calibri"/>
              </a:rPr>
              <a:t> s 2.0 mm, α 0.1 mm²/s, Tm 240, Tw 60, Te 85 °C.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Layout:</a:t>
            </a:r>
            <a:r>
              <a:rPr sz="1100">
                <a:solidFill>
                  <a:srgbClr val="1F2A36"/>
                </a:solidFill>
                <a:latin typeface="Calibri"/>
              </a:rPr>
              <a:t> Ø6 channels, 12 mm below the surface, 18 mm pitch, 2 per cavity per half, series circuit.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Latch core:</a:t>
            </a:r>
            <a:r>
              <a:rPr sz="1100">
                <a:solidFill>
                  <a:srgbClr val="1F2A36"/>
                </a:solidFill>
                <a:latin typeface="Calibri"/>
              </a:rPr>
              <a:t> Ø4 bubbler, where the 7 mm B-side step would otherwise run hot.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Heat load:</a:t>
            </a:r>
            <a:r>
              <a:rPr sz="1100">
                <a:solidFill>
                  <a:srgbClr val="1F2A36"/>
                </a:solidFill>
                <a:latin typeface="Calibri"/>
              </a:rPr>
              <a:t> 626 W → 4.6 L/min total for a 2 K water rise.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Thickest spot 2.3 mm</a:t>
            </a:r>
            <a:r>
              <a:rPr sz="1100">
                <a:solidFill>
                  <a:srgbClr val="1F2A36"/>
                </a:solidFill>
                <a:latin typeface="Calibri"/>
              </a:rPr>
              <a:t> needs 12 s, but it is local: size the cycle on the 2.0 mm wall.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Fill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From G3: latch and recess first, plate next, top lip and bumps last. Max flow 79 mm.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10 / 12</a:t>
            </a:r>
          </a:p>
        </p:txBody>
      </p:sp>
      <p:pic>
        <p:nvPicPr>
          <p:cNvPr id="7" name="Picture 6" descr="f10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15409"/>
            <a:ext cx="7680960" cy="40501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417320"/>
            <a:ext cx="3520440" cy="4892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0–20 %:</a:t>
            </a:r>
            <a:r>
              <a:rPr sz="1100">
                <a:solidFill>
                  <a:srgbClr val="1F2A36"/>
                </a:solidFill>
                <a:latin typeface="Calibri"/>
              </a:rPr>
              <a:t> snap arm and recess fill first, so orientation runs along the arm (strongest direction).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20–80 %:</a:t>
            </a:r>
            <a:r>
              <a:rPr sz="1100">
                <a:solidFill>
                  <a:srgbClr val="1F2A36"/>
                </a:solidFill>
                <a:latin typeface="Calibri"/>
              </a:rPr>
              <a:t> the plate fills as a straight front; ribs fill along their length, with no hesitation.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80–100 %:</a:t>
            </a:r>
            <a:r>
              <a:rPr sz="1100">
                <a:solidFill>
                  <a:srgbClr val="1F2A36"/>
                </a:solidFill>
                <a:latin typeface="Calibri"/>
              </a:rPr>
              <a:t> top lip, hook and bumps. Last to fill: X 26, Z 77 (top corner).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Vents:</a:t>
            </a:r>
            <a:r>
              <a:rPr sz="1100">
                <a:solidFill>
                  <a:srgbClr val="1F2A36"/>
                </a:solidFill>
                <a:latin typeface="Calibri"/>
              </a:rPr>
              <a:t> 0.02 mm deep at the top corners, bump tips and hook window.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Weld line:</a:t>
            </a:r>
            <a:r>
              <a:rPr sz="1100">
                <a:solidFill>
                  <a:srgbClr val="1F2A36"/>
                </a:solidFill>
                <a:latin typeface="Calibri"/>
              </a:rPr>
              <a:t> short, just downstream of the hook window (Z 73–77), in the zone under the top lip.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Fill time ≈ 0.6 s</a:t>
            </a:r>
            <a:r>
              <a:rPr sz="1100">
                <a:solidFill>
                  <a:srgbClr val="1F2A36"/>
                </a:solidFill>
                <a:latin typeface="Calibri"/>
              </a:rPr>
              <a:t> then pack at 50–70 % of fill pressure.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Warpage &amp; deflection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Bow ≈ 0.024 mm per K of A/B mould ΔT. The source model's 0.34 mm bow matches ≈ 14 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  WARPAGE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0350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8" name="Picture 7" descr="f11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51" y="5166360"/>
            <a:ext cx="4446737" cy="1234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2280" y="1463040"/>
          <a:ext cx="49377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 received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DFM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Bow at ΔT = 5 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0.12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0.12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Shrink over 71.5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0.29–0.50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same (tool +0.5 %)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I (Z = 40 section)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48.9 mm⁴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50.0 mm⁴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10 N thumb, mid-span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0.39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0.38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Bending stress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8.5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8.2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Safety vs yield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6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12280" y="3931920"/>
            <a:ext cx="4937760" cy="2377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Keep ΔT(A−B) ≤ 5 K</a:t>
            </a:r>
            <a:r>
              <a:rPr sz="1100">
                <a:solidFill>
                  <a:srgbClr val="1F2A36"/>
                </a:solidFill>
                <a:latin typeface="Calibri"/>
              </a:rPr>
              <a:t> to hold the bow ≤ 0.12 mm. Use separate A/B circuits and log the temperatures.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ABS is amorphous:</a:t>
            </a:r>
            <a:r>
              <a:rPr sz="1100">
                <a:solidFill>
                  <a:srgbClr val="1F2A36"/>
                </a:solidFill>
                <a:latin typeface="Calibri"/>
              </a:rPr>
              <a:t> shrink is near-isotropic, so the risk of differential-shrink warp is low.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Stiffness:</a:t>
            </a:r>
            <a:r>
              <a:rPr sz="1100">
                <a:solidFill>
                  <a:srgbClr val="1F2A36"/>
                </a:solidFill>
                <a:latin typeface="Calibri"/>
              </a:rPr>
              <a:t> span 59 mm (latch to hook). Deflection stays below 0.4 mm and stress sits at 1/5 of yield.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6926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2A36"/>
                </a:solidFill>
                <a:latin typeface="Cambria"/>
              </a:rPr>
              <a:t>DFM changes: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B6770"/>
                </a:solidFill>
                <a:latin typeface="Calibri"/>
              </a:rPr>
              <a:t>Straight-pull, 2-plate, 4-cavity tool: no lifters or sliders, every wall drafted, every internal corner radiused.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857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B6770"/>
                </a:solidFill>
                <a:latin typeface="Calibri"/>
              </a:rPr>
              <a:t>ANRMTPT0003F Battery cover  ·  ABS  ·  DFM review  ·  Rev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B6770"/>
                </a:solidFill>
                <a:latin typeface="Calibri"/>
              </a:rP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325880" cy="31546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_input_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7" y="1463040"/>
            <a:ext cx="825944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315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62728"/>
                </a:solidFill>
                <a:latin typeface="Calibri"/>
              </a:rPr>
              <a:t>before · 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417320"/>
            <a:ext cx="1325880" cy="31546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_input_i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375" y="1463040"/>
            <a:ext cx="812728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4315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62728"/>
                </a:solidFill>
                <a:latin typeface="Calibri"/>
              </a:rPr>
              <a:t>before · inner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1325880" cy="31546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_dfm_ou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087" y="1463040"/>
            <a:ext cx="825944" cy="2834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6120" y="4315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Calibri"/>
              </a:rPr>
              <a:t>after · 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417320"/>
            <a:ext cx="1325880" cy="31546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_dfm_i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319" y="1463040"/>
            <a:ext cx="806121" cy="2834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3440" y="43159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Calibri"/>
              </a:rPr>
              <a:t>after · inner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72200" y="1417320"/>
          <a:ext cx="557784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737360"/>
                <a:gridCol w="25146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After (part_DFM.step)</a:t>
                      </a:r>
                    </a:p>
                  </a:txBody>
                  <a:tcPr marL="54864" marR="54864" marT="18288" marB="18288" anchor="ctr">
                    <a:solidFill>
                      <a:srgbClr val="1F2A3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0° on all walls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1° core · 3° cavity · 3° shut-off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Undercut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57 mm² → lifter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0 → pass-through window 6 × 4.5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Internal radii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R0 (sharp)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R0.5 rib / rail / lip / recess / bump roots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Thinnest section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rib 0.8 mm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rib 1.0 mm root (50 % t)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Nominal wall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2.0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2.0 mm (uniform)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Outer bumps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R2 barrel ends, 0° sides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3° drafted pad, R0.75 top, R0.5 root</a:t>
                      </a:r>
                    </a:p>
                  </a:txBody>
                  <a:tcPr marL="54864" marR="54864" marT="18288" marB="18288" anchor="ctr"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6"/>
                          </a:solidFill>
                          <a:latin typeface="Calibri"/>
                        </a:rPr>
                        <a:t>Volume · mass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4.61 cm³ · 4.84 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6"/>
                          </a:solidFill>
                          <a:latin typeface="Calibri"/>
                        </a:rPr>
                        <a:t>4.49 cm³ · 4.72 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11480" y="4754880"/>
            <a:ext cx="11338560" cy="15544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8E2B"/>
                </a:solidFill>
                <a:latin typeface="Cambria"/>
              </a:rPr>
              <a:t>Open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93792"/>
            <a:ext cx="539496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Window visibility:</a:t>
            </a:r>
            <a:r>
              <a:rPr sz="1100">
                <a:solidFill>
                  <a:srgbClr val="1F2A36"/>
                </a:solidFill>
                <a:latin typeface="Calibri"/>
              </a:rPr>
              <a:t> confirm with the rear-case lip, or revert to the closed hook plus a lifter.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Hook-leg side roots:</a:t>
            </a:r>
            <a:r>
              <a:rPr sz="1100">
                <a:solidFill>
                  <a:srgbClr val="1F2A36"/>
                </a:solidFill>
                <a:latin typeface="Calibri"/>
              </a:rPr>
              <a:t> 4 short edges left sharp (blend cannot close on the shut-off rim). Add R0.3 in native CAD.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193792"/>
            <a:ext cx="54864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Simulation:</a:t>
            </a:r>
            <a:r>
              <a:rPr sz="1100">
                <a:solidFill>
                  <a:srgbClr val="1F2A36"/>
                </a:solidFill>
                <a:latin typeface="Calibri"/>
              </a:rPr>
              <a:t> run fill, pack and warp on the chosen ABS grade before tool release.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F28E2B"/>
                </a:solidFill>
                <a:latin typeface="Calibri"/>
              </a:rPr>
              <a:t>▸  </a:t>
            </a:r>
            <a:r>
              <a:rPr sz="1100" b="1">
                <a:solidFill>
                  <a:srgbClr val="1F2A36"/>
                </a:solidFill>
                <a:latin typeface="Calibri"/>
              </a:rPr>
              <a:t>Snap-fit:</a:t>
            </a:r>
            <a:r>
              <a:rPr sz="1100">
                <a:solidFill>
                  <a:srgbClr val="1F2A36"/>
                </a:solidFill>
                <a:latin typeface="Calibri"/>
              </a:rPr>
              <a:t> run FEA of latch release strain with the rear-case geometry.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